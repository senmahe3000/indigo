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3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3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A3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FA3B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IndiGo</c:v>
                  </c:pt>
                  <c:pt idx="1">
                    <c:v>SpiceJet</c:v>
                  </c:pt>
                  <c:pt idx="2">
                    <c:v>Air India</c:v>
                  </c:pt>
                  <c:pt idx="3">
                    <c:v>Vistara</c:v>
                  </c:pt>
                  <c:pt idx="4">
                    <c:v>Akasa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22.4</c:v>
                </c:pt>
                <c:pt idx="1">
                  <c:v>6.1</c:v>
                </c:pt>
                <c:pt idx="2">
                  <c:v>4.3</c:v>
                </c:pt>
                <c:pt idx="3">
                  <c:v>3.8</c:v>
                </c:pt>
                <c:pt idx="4">
                  <c:v>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Introduce the project: IndiGo's Dec 2025 crisis, GUVI x HCL capstone. Mention the three key numbers: 1,000+ flights cancelled, ₹22.20 Cr penalty, crisis window Dec 2–10.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 phases. Emphasise that Phase 1 (Data Engineering) must be completed before any analysis — dirty data produces wrong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anchor slide. The core question drives every analytical decision. Emphasise: the data will PROVE whether this was avoidable.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5 data domains. Highlight the quality issues — these are intentional, mirroring real enterprise data. The ETL pipeline must handle all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the most critical phase. Four Python scripts with full governance rules baked in. master_id_map.csv is the prerequisite for all Phase 2 crew joins.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finding: IndiGo's cancellation rate was 22.4% vs competitor average of ~4%. The data proves structural, not external, causation.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financial model. Key: clearly separate SOURCED figures (DGCA log) from MODELLED estimates. The ₹22.20 Cr penalty is a verified sourced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dashboard panels. Each must be self-explanatory with correct axis labels, units, and titles. P2 (Crew vs Schedule) is the most important — it visually proves the capacity deficit.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 is the output that differentiates this from a technical exercise. The DGCA brief must cite your own numbers, not generic aviation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Glossary slide — use this when presenting to a non-aviation audience such as the GUVI/HCL evaluation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7 deliverables listed. Walk through each briefly. The evaluators check all 7. Don't skip the data_quality_report — it's scored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Restate the core finding. Thank the evaluation panel. Open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B3A6B">
              <a:alpha val="40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A3BF"/>
                </a:solidFill>
              </a:rPr>
              <a:t>GUVI × HCL  |  BADM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IndiGo Airlines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B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Crisis Analytics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&amp; Operational Turnaround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3200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1089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Cancelled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31089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₹22.20 Cr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8328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 Penalty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31089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B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 2–10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0936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Crisis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October – December 2025  |  215,000+ Records Across 14 Data Files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 from raw data to executive recommendations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1380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6276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files · ETL · Master ID Map · METAR parsing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130552"/>
            <a:ext cx="411480" cy="41148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30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20939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Root Cause Proof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34086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hours deficit · FDTL violations · Competitor benchmark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52344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843784"/>
            <a:ext cx="411480" cy="41148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2807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0540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₹22.20 Cr penalty · Lost revenue · Refund liability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65576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557016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57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3520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767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5-panel Power BI · Cancellation heatmap · Delay attribution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178808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270248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270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4233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4805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formula · Crisis playbook · DGCA policy brief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Crisis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FDTL Phase II rules reduced pilot flight hours, especially at night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IndiGo operated 35%+ of flights between 11 PM – 6 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workforce could not absorb the new duty-hour constraints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outage + seasonal weather compounded the collapse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flights cancelled within 9 days (Dec 2–10, 2025)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 intervened — ₹22.20 Crore in penalties issued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C0392B">
              <a:alpha val="15000"/>
            </a:srgbClr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024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Research Question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the December 2025 crisis an unavoidable external event — or a predictable structural imbalance in crew capacity and scheduling?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 Answers: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200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215,000+ records across 14 files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566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Oct–Dec 2025 operational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931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FDTL logs, METAR weather, DGCA penalties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Landscape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raw files · 215,906 records · CSV + JSON · 5 domains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600200" cy="356616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Flights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indigo_flights_nov2025.csv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indigo_flights_dec2025.csv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88950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competitor_flights_Q4.csv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341985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archived_flights_legacy.csv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65960" y="1188720"/>
            <a:ext cx="1600200" cy="356616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65960" y="118872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1887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👨‍✈️  Crew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1828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pilot_roster_nov.json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11680" y="235915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pilot_roster_dec.json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11680" y="288950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crew_duty_logs_nov.csv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11680" y="341985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crew_duty_logs_dec.csv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11880" y="1188720"/>
            <a:ext cx="1600200" cy="356616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11880" y="118872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11887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Regulatory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1828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fdtl_compliance_report.json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0" y="235915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dgca_penalty_log.csv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257800" y="1188720"/>
            <a:ext cx="1600200" cy="356616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57800" y="118872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11887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Financial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1828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revenue_per_route_nov.csv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03520" y="235915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revenue_per_route_dec.csv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903720" y="1188720"/>
            <a:ext cx="1600200" cy="356616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03720" y="118872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11887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🌦  External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0" y="1828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weather_metar_delhi.json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49440" y="235915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weather_metar_mumbai.json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49440" y="288950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competitor_incidents.json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466344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E67E22">
              <a:alpha val="2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Known quality issues: ~12% nulls in delay/gate columns · Mixed UTC/IST timestamps · Conflicting compliance flags · Unparsed METAR strings · Mixed USD/INR currency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B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FA3BF"/>
                </a:solidFill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8FA3BF"/>
                </a:solidFill>
              </a:rPr>
              <a:t>ENGINEERING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25603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Data Engineering &amp; Cleaning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74520" y="841248"/>
            <a:ext cx="6903720" cy="868680"/>
          </a:xfrm>
          <a:prstGeom prst="roundRect">
            <a:avLst>
              <a:gd name="adj" fmla="val 7368"/>
            </a:avLst>
          </a:prstGeom>
          <a:solidFill>
            <a:srgbClr val="1B3A6B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0" y="1115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Audit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all 14 files — inventory columns, dtypes, row counts, null % per column. No data dropped.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92240" y="1115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phase1_1_schema_audit.py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74520" y="1847088"/>
            <a:ext cx="6903720" cy="868680"/>
          </a:xfrm>
          <a:prstGeom prst="roundRect">
            <a:avLst>
              <a:gd name="adj" fmla="val 7368"/>
            </a:avLst>
          </a:prstGeom>
          <a:solidFill>
            <a:srgbClr val="1B3A6B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1.2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0" y="2121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Pilot ID Map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2377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3 identifier systems (pilot_id · employee_id · staff_code) into master_id_map.csv.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92240" y="21214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phase1_2_master_id_map.py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74520" y="2852928"/>
            <a:ext cx="6903720" cy="868680"/>
          </a:xfrm>
          <a:prstGeom prst="roundRect">
            <a:avLst>
              <a:gd name="adj" fmla="val 7368"/>
            </a:avLst>
          </a:prstGeom>
          <a:solidFill>
            <a:srgbClr val="1B3A6B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2926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1.3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0" y="3127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Column Mapping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11680" y="3383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archived_flights_legacy.csv: flt_no→flight_number, src→origin, dst→destination.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92240" y="31272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phase1_3_legacy_clean.py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74520" y="3858768"/>
            <a:ext cx="6903720" cy="868680"/>
          </a:xfrm>
          <a:prstGeom prst="roundRect">
            <a:avLst>
              <a:gd name="adj" fmla="val 7368"/>
            </a:avLst>
          </a:prstGeom>
          <a:solidFill>
            <a:srgbClr val="1B3A6B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011680" y="3931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1.4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0" y="4133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METAR ETL Merge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11680" y="4389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raw METAR strings (visibility, wind speed, conditions) and join to flight delays by airport + hour.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41330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phase1_4_metar_etl.py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74520" y="4663440"/>
            <a:ext cx="6903720" cy="292608"/>
          </a:xfrm>
          <a:prstGeom prst="roundRect">
            <a:avLst>
              <a:gd name="adj" fmla="val 15625"/>
            </a:avLst>
          </a:prstGeom>
          <a:solidFill>
            <a:srgbClr val="C0392B">
              <a:alpha val="2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0" y="469087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CANCELLED &gt; ON_TIME · NON-COMPLIANT priority · 1 USD = ₹84 · IST-first timestamps · Flag nulls, don't drop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EDA &amp; Root Cause Proof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proving whether the crisis was avoidable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Capacity Deficit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daily available crew-hours vs scheduled flight-hours.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Structural deficit → cancellations were PREDICTABLE.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450592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542032"/>
            <a:ext cx="365760" cy="3657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FDTL Violation Cross-Validation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88950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weekly violations per pilot between duty logs and fdtl_compliance_report.json.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Discrepancies flagged — safety-first rule applied.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712464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803904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8039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Night-Flight Dependency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15137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IndiGo's 11 PM–6 AM share vs SpiceJet, Air India, Vistara, Akasa.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2–10 cancellation rates compared across all 5 carriers.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4068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Cancellation Rate  (Dec 2–10, 2025)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394960" y="1463040"/>
          <a:ext cx="34290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Financial Impact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the total damage — regulatory, revenue, and refund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1B3A6B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325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9768" y="1627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 Penalties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9933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₹22.20 Cr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9768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from dgca_penalty_log.csv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1B3A6B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1325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55848" y="1627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Revenue Lost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5848" y="19933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Modelled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55848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route baseline × cancellation rate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118872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1B3A6B"/>
          </a:solidFill>
          <a:ln w="254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81928" y="1325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LIABILITY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81928" y="1627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Refunds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1928" y="19933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Estimated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81928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by route distance &amp; peak-season yield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611880"/>
            <a:ext cx="8503920" cy="1280160"/>
          </a:xfrm>
          <a:prstGeom prst="roundRect">
            <a:avLst>
              <a:gd name="adj" fmla="val 5714"/>
            </a:avLst>
          </a:prstGeom>
          <a:solidFill>
            <a:srgbClr val="1B3A6B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Approach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0050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Penalty: sum(dgca_penalty_log.csv WHERE airline='IndiGo' AND period='Dec2025') — converted USD→INR at 1 USD = ₹84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421995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Revenue Loss: Nov avg revenue per route × cancelled flights per route in Dec — flagged as MODELLED ESTIMATE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Refunds: cancelled passengers × avg fare × refund rate, segmented by route_km and peak_season_flag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64972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All sourced figures clearly separated from model estimates in final summary table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BI Dashboard (5 Panels)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executive dashboard — self-explanatory to non-technical viewers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206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43584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43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2618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Heatmap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Calendar Matrix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179222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metric: daily cancellation rate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340864"/>
            <a:ext cx="4206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14016"/>
            <a:ext cx="365760" cy="3657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4323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Availability vs Schedule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72491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Dual-axis Line Chart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60120" y="296265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metric: available crew-hrs vs required flight-hrs / day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511296"/>
            <a:ext cx="4206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84448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6027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FDTL Violation Tracker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89534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Weekly Bar Chart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60120" y="41330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metric: violations per pilot base per week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1170432"/>
            <a:ext cx="4206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243584"/>
            <a:ext cx="365760" cy="36576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243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9240" y="12618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Revenue Loss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15544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Bar + Fare-cap Overlay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49240" y="179222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metric: lost revenue by route with fare-cap line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340864"/>
            <a:ext cx="4206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414016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49240" y="24323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Attribution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272491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Stacked Bar / Pie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49240" y="296265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metric: Weather vs Crew vs Other breakdown 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 — Strategic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1B3A6B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Crew Optimisation Formula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1C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Pilots = (Monthly Flight Hours ÷ Max Block Hours per Pilot)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F1C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Night-Route Multiplier × (1 + Leave Buffer)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IndiGo's Dec schedule with 35% night-route share → headcount gap quantified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1B3A6B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3-Tier Crisis Playbook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298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WATCH  |  Cancellation rate &gt; 5% in 24 hrs  →  Ops Centre (6 hrs)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0" y="1709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ALERT  |  FDTL violations &gt; 15% pilots in a week  →  Crew Planning (2 hrs)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0" y="2121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CRISIS  |  Cancellations &gt; 10% for 3 consecutive days  →  CEO + DGCA Liaison (Immediate)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8503920" cy="1920240"/>
          </a:xfrm>
          <a:prstGeom prst="roundRect">
            <a:avLst>
              <a:gd name="adj" fmla="val 3810"/>
            </a:avLst>
          </a:prstGeom>
          <a:solidFill>
            <a:srgbClr val="1B3A6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17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DGCA Policy Brief  (Evidence-Based, 1-Page, Professional Tone)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36499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Cites own data: 22.4% cancellation rate vs 4.3% industry average during Dec 2–10, 2025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Demonstrates FDTL Phase II implementation gap — no compensating headcount increase preceded rollout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Recommends phased implementation window (90-day ramp) for airlines with &gt;25% night-flight dependency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379976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Proposes mandatory crew buffer ratio reporting as a leading indicator of compliance risk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Aviation Concepts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for non-aviation reviewers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435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FDTL  —  Flight Duty Time Limitations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regulations limiting pilot flight hours/day, week, month. Phase II (late 2025) tightened night-duty limits to 11 PM–6 AM. Each pilot can fly fewer hours → more pilots needed for same schedule.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170432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70432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435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METAR  —  Meteorological Aerodrome Report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71907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global airport weather format. Raw string: VIDP 021730Z 31008KT 4000 HZ SCT025 24/12 Q1015. Parsed into visibility, wind speed, conditions for delay attribution.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907792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07792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809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  —  Directorate General of Civil Aviation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564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aviation regulator (equivalent to FAA in the US). Enforces safety rules, issues penalties for FDTL violations, and can restrict airline operations.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907792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07792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9809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Factor  —  Seat Utilisation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4564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available seats filled with passengers. Load factor of 85% = 85 of every 100 seats occupied. Key efficiency metric used in route revenue modelling.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Deliverables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1B3A6B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20040" cy="3200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9784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master_id_map.csv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520440" y="100584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pilot_id · employee_id · staff_code into one golden reference table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499616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1B3A6B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91056"/>
            <a:ext cx="320040" cy="3200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5636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cleaned/ folder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20440" y="159105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versions of all 14 files — IST timestamps, deduplicated, currency-normalised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084832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1B3A6B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76272"/>
            <a:ext cx="320040" cy="3200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data_quality_report.pdf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20440" y="217627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issue found, the decision made, and the justification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670048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1B3A6B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761488"/>
            <a:ext cx="320040" cy="3200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61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27340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 (Power BI)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20440" y="276148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5-panel executive dashboard — cancellation heatmap, crew vs schedule, FDTL tracker, revenue loss, delay attribution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255264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1B3A6B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346704"/>
            <a:ext cx="320040" cy="3200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3467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3319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crisis_analysis_report.pdf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20440" y="334670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report: background, crisis timeline, root cause proof, competitor comparison, financial impact model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840480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1B3A6B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931920"/>
            <a:ext cx="320040" cy="3200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39044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crew_optimisation_model.xlsx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520440" y="393192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headcount formula with derivation, sensitivity analysis, schedule restructuring recommendation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425696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1B3A6B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517136"/>
            <a:ext cx="320040" cy="3200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517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4400" y="44897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policy_recommendations.pdf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520440" y="451713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FDTL early warning system · passenger protection policy · 3-tier crisis playbook · 1-page DGCA brief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6400800" cy="6400800"/>
          </a:xfrm>
          <a:prstGeom prst="ellipse">
            <a:avLst/>
          </a:prstGeom>
          <a:solidFill>
            <a:srgbClr val="1B3A6B">
              <a:alpha val="3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December 2025 IndiGo crisis was not an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unavoidable external shock.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a predictable, mathematically derivable outcome of applying FDTL Phase II rules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fixed workforce with high night-flight dependency — without compensating headcount.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C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215,906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6301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Analysed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301752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C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51760" y="36301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Files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301752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C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36301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301752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C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₹22.20 Cr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75120" y="36301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Verified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FA3BF"/>
                </a:solidFill>
              </a:rPr>
              <a:t>GUVI × HCL  |  BADM Programme  |  Capstone Project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IndiGo Airlines Crisis Analytics</dc:title>
  <dc:subject>PptxGenJS Presentation</dc:subject>
  <dc:creator>GUVI x HCL BADM Programme</dc:creator>
  <cp:lastModifiedBy>GUVI x HCL BADM Programme</cp:lastModifiedBy>
  <cp:revision>1</cp:revision>
  <dcterms:created xsi:type="dcterms:W3CDTF">2026-06-24T05:17:20Z</dcterms:created>
  <dcterms:modified xsi:type="dcterms:W3CDTF">2026-06-24T05:17:20Z</dcterms:modified>
</cp:coreProperties>
</file>